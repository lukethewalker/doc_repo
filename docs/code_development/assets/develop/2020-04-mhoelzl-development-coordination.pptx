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6" r:id="rId3"/>
    <p:sldId id="257" r:id="rId4"/>
    <p:sldId id="258" r:id="rId5"/>
    <p:sldId id="273" r:id="rId6"/>
    <p:sldId id="262" r:id="rId7"/>
    <p:sldId id="259" r:id="rId8"/>
    <p:sldId id="260" r:id="rId9"/>
    <p:sldId id="266" r:id="rId10"/>
    <p:sldId id="270" r:id="rId11"/>
    <p:sldId id="271" r:id="rId12"/>
    <p:sldId id="261" r:id="rId13"/>
    <p:sldId id="269" r:id="rId14"/>
    <p:sldId id="275" r:id="rId15"/>
    <p:sldId id="265" r:id="rId16"/>
    <p:sldId id="264" r:id="rId17"/>
    <p:sldId id="267" r:id="rId18"/>
    <p:sldId id="276" r:id="rId19"/>
    <p:sldId id="278" r:id="rId20"/>
    <p:sldId id="279" r:id="rId21"/>
    <p:sldId id="272" r:id="rId22"/>
    <p:sldId id="277" r:id="rId23"/>
    <p:sldId id="280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5" autoAdjust="0"/>
    <p:restoredTop sz="94660"/>
  </p:normalViewPr>
  <p:slideViewPr>
    <p:cSldViewPr snapToGrid="0">
      <p:cViewPr varScale="1">
        <p:scale>
          <a:sx n="92" d="100"/>
          <a:sy n="92" d="100"/>
        </p:scale>
        <p:origin x="6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7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6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3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2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8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9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4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4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6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05D83-4BC7-4590-B496-1C645DA1507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B1A42-1543-4321-AB35-7644FACBF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8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Foreword / Disclaimer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I’ll talk quite a lot today. Trying to summarize. Trying to propose improvements. Most things are based on discussions with others.</a:t>
            </a:r>
          </a:p>
          <a:p>
            <a:pPr marL="0" indent="0">
              <a:buNone/>
            </a:pPr>
            <a:endParaRPr lang="en-US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rgbClr val="C00000"/>
                </a:solidFill>
              </a:rPr>
              <a:t>You might disagree with some aspects.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C00000"/>
                </a:solidFill>
              </a:rPr>
              <a:t>You might find something essential missing.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C00000"/>
                </a:solidFill>
              </a:rPr>
              <a:t>…</a:t>
            </a:r>
          </a:p>
          <a:p>
            <a:pPr marL="0" indent="0">
              <a:buNone/>
            </a:pPr>
            <a:endParaRPr lang="en-US" b="1" i="1" dirty="0">
              <a:solidFill>
                <a:schemeClr val="accent6"/>
              </a:solidFill>
            </a:endParaRPr>
          </a:p>
          <a:p>
            <a:r>
              <a:rPr lang="en-US" b="1" i="1" dirty="0" smtClean="0">
                <a:solidFill>
                  <a:schemeClr val="accent6"/>
                </a:solidFill>
              </a:rPr>
              <a:t>Please, don’t take anything personal!</a:t>
            </a:r>
          </a:p>
          <a:p>
            <a:r>
              <a:rPr lang="en-US" b="1" i="1" dirty="0" smtClean="0">
                <a:solidFill>
                  <a:schemeClr val="accent6"/>
                </a:solidFill>
              </a:rPr>
              <a:t>Don’t think I left something out intentionally.</a:t>
            </a:r>
          </a:p>
          <a:p>
            <a:r>
              <a:rPr lang="en-US" b="1" i="1" dirty="0" smtClean="0">
                <a:solidFill>
                  <a:schemeClr val="accent6"/>
                </a:solidFill>
              </a:rPr>
              <a:t>Just speak up and say what you think!</a:t>
            </a:r>
          </a:p>
        </p:txBody>
      </p:sp>
    </p:spTree>
    <p:extLst>
      <p:ext uri="{BB962C8B-B14F-4D97-AF65-F5344CB8AC3E}">
        <p14:creationId xmlns:p14="http://schemas.microsoft.com/office/powerpoint/2010/main" val="106432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Development coordination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 Hoelzl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35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this so important?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Development </a:t>
            </a:r>
            <a:r>
              <a:rPr lang="en-US" b="1" dirty="0">
                <a:solidFill>
                  <a:schemeClr val="accent6"/>
                </a:solidFill>
              </a:rPr>
              <a:t>is more active than ever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with various small and large pull requests in parallel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We need to avoid having pull requests open “forever”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We need to avoid solutions which (seem to) work, but…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do not work together with other developments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cause problems for other applications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narrow down the code flexibility/generality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actually were broken from the start</a:t>
            </a:r>
          </a:p>
        </p:txBody>
      </p:sp>
    </p:spTree>
    <p:extLst>
      <p:ext uri="{BB962C8B-B14F-4D97-AF65-F5344CB8AC3E}">
        <p14:creationId xmlns:p14="http://schemas.microsoft.com/office/powerpoint/2010/main" val="378263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 smtClean="0">
                <a:solidFill>
                  <a:schemeClr val="accent6"/>
                </a:solidFill>
              </a:rPr>
              <a:t>Discussions via Jira before starting to implement</a:t>
            </a:r>
            <a:r>
              <a:rPr lang="en-US" u="sng" dirty="0" smtClean="0">
                <a:solidFill>
                  <a:schemeClr val="accent6"/>
                </a:solidFill>
              </a:rPr>
              <a:t> </a:t>
            </a:r>
            <a:r>
              <a:rPr lang="en-US" dirty="0" smtClean="0"/>
              <a:t>(directly mention someone via @name)</a:t>
            </a:r>
          </a:p>
          <a:p>
            <a:pPr lvl="1"/>
            <a:r>
              <a:rPr lang="en-US" dirty="0" smtClean="0"/>
              <a:t>I propose we insist on that from now. No pull request without </a:t>
            </a:r>
            <a:r>
              <a:rPr lang="en-US" dirty="0" err="1" smtClean="0"/>
              <a:t>jira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Please even report issues, if you don’t know how to fix them such that someone else can take care of it.</a:t>
            </a:r>
          </a:p>
          <a:p>
            <a:endParaRPr lang="en-US" dirty="0"/>
          </a:p>
          <a:p>
            <a:r>
              <a:rPr lang="en-US" dirty="0" smtClean="0"/>
              <a:t>Automatic </a:t>
            </a:r>
            <a:r>
              <a:rPr lang="en-US" b="1" dirty="0" smtClean="0"/>
              <a:t>regression tests </a:t>
            </a:r>
            <a:r>
              <a:rPr lang="en-US" dirty="0" smtClean="0"/>
              <a:t>(cover only some code applications)</a:t>
            </a:r>
          </a:p>
          <a:p>
            <a:endParaRPr lang="en-US" dirty="0"/>
          </a:p>
          <a:p>
            <a:r>
              <a:rPr lang="en-US" dirty="0" smtClean="0"/>
              <a:t>Code </a:t>
            </a:r>
            <a:r>
              <a:rPr lang="en-US" b="1" dirty="0" smtClean="0"/>
              <a:t>reviewing</a:t>
            </a:r>
          </a:p>
          <a:p>
            <a:endParaRPr lang="en-US" dirty="0"/>
          </a:p>
          <a:p>
            <a:r>
              <a:rPr lang="en-US" b="1" dirty="0" smtClean="0"/>
              <a:t>Development meetings</a:t>
            </a:r>
          </a:p>
        </p:txBody>
      </p:sp>
    </p:spTree>
    <p:extLst>
      <p:ext uri="{BB962C8B-B14F-4D97-AF65-F5344CB8AC3E}">
        <p14:creationId xmlns:p14="http://schemas.microsoft.com/office/powerpoint/2010/main" val="185820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we standing and where to go?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We are doing an increasingly good job in my eyes already, but there’s plenty of room for improvements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I provide examples in the following for problems we see regularly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i="1" dirty="0" smtClean="0">
                <a:solidFill>
                  <a:srgbClr val="C00000"/>
                </a:solidFill>
              </a:rPr>
              <a:t>(I have made quite a couple of them myself. My intention is absolutely not to blame anyone, just to learn from our past experience.)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chemeClr val="accent6"/>
                </a:solidFill>
              </a:rPr>
              <a:t>… and propose how we might try to avoid them in the future.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(This is not a complete list of problems, but includes the most important issues, I think)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44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Insufficient </a:t>
            </a:r>
            <a:r>
              <a:rPr lang="en-US" b="1" dirty="0">
                <a:solidFill>
                  <a:srgbClr val="C00000"/>
                </a:solidFill>
              </a:rPr>
              <a:t>description about what a pull request is supposed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Makes reviewing unnecessarily hard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Missing records about the changes</a:t>
            </a:r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Make sure to explain well </a:t>
            </a:r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why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this is needed, </a:t>
            </a:r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what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is done, and </a:t>
            </a:r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how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you do it.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Explain not for yourself, but in a concise and comprehensible way for somebody who knows JOREK well, but not your exact work. Not five pages, but briefly and precisely.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Reviewers should never have to reconstruct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what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you are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doing!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6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Various issues combined in one pull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Reviewing becomes very hard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Missing records about the changes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Each issue needs to have its own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jira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issue and its own pull request.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This is a bit more work for you in the first place, but smaller pull requests get merged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quicker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and usually end up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cleaner.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Separating out the issues has often helped to further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refine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the solutions, since there is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less confusion for everyone.</a:t>
            </a:r>
          </a:p>
        </p:txBody>
      </p:sp>
    </p:spTree>
    <p:extLst>
      <p:ext uri="{BB962C8B-B14F-4D97-AF65-F5344CB8AC3E}">
        <p14:creationId xmlns:p14="http://schemas.microsoft.com/office/powerpoint/2010/main" val="325709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Looks good, but does not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When you raise a pull request, you should always </a:t>
            </a:r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test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carefully what you have done. And not only for one special case.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 general it is your job to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convince the reviewers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of what you have done. This might require uploading a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derivation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showing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simulation results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etc.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 addition, it can sometimes be a good idea if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reviewers run special cases themselves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 actively test for possible problems, or if they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involve somebody else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who might have a critical application.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25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Assuming the other person is now in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Delays everything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When you are not sure who is supposed to do the next step for a pull request, actively raise that question!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 try to always clarify the status of a pull request and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say explicitly who will do something next.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This is not meant as pressuring anyone or as telling someone what to do. It’s only meant for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clarifying the status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 If you don’t agree with what I say,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simply post a reply.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4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Scattered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Wastes time due to double-discussions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Already accepted facts are forgotten again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Jira and pull requests are the right place to raise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points.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No-one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will find discussions again if they take place partly in the pull request and partly via e-mail (and very often only between a subset of people).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Please avoid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discussing development related things via e-mail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(only use them to point someone to a discussion in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jira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or a pull request)</a:t>
            </a:r>
          </a:p>
        </p:txBody>
      </p:sp>
    </p:spTree>
    <p:extLst>
      <p:ext uri="{BB962C8B-B14F-4D97-AF65-F5344CB8AC3E}">
        <p14:creationId xmlns:p14="http://schemas.microsoft.com/office/powerpoint/2010/main" val="54174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Forgetting about already found issues in a pull </a:t>
            </a:r>
            <a:r>
              <a:rPr lang="en-US" b="1" dirty="0" smtClean="0">
                <a:solidFill>
                  <a:srgbClr val="C00000"/>
                </a:solidFill>
              </a:rPr>
              <a:t>request </a:t>
            </a:r>
            <a:r>
              <a:rPr lang="en-US" sz="3200" b="1" dirty="0" smtClean="0">
                <a:solidFill>
                  <a:srgbClr val="C00000"/>
                </a:solidFill>
              </a:rPr>
              <a:t>(or in general)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Wastes time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Leads to merging code </a:t>
            </a:r>
            <a:r>
              <a:rPr lang="en-US" b="1" i="1" dirty="0" smtClean="0">
                <a:solidFill>
                  <a:srgbClr val="C00000"/>
                </a:solidFill>
              </a:rPr>
              <a:t>we know </a:t>
            </a:r>
            <a:r>
              <a:rPr lang="en-US" b="1" dirty="0" smtClean="0">
                <a:solidFill>
                  <a:srgbClr val="C00000"/>
                </a:solidFill>
              </a:rPr>
              <a:t>is not correct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When a further modification is agreed upon in a pull request, there needs to be a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“task”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created for it and closed when this is finished. Otherwise nobody can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keep the overview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of what is still open.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And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when something comes up in the pull request, that should be taken care of separately, 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jira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issue should be created right away (direct link below the comment).</a:t>
            </a:r>
          </a:p>
        </p:txBody>
      </p:sp>
    </p:spTree>
    <p:extLst>
      <p:ext uri="{BB962C8B-B14F-4D97-AF65-F5344CB8AC3E}">
        <p14:creationId xmlns:p14="http://schemas.microsoft.com/office/powerpoint/2010/main" val="3978760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Unnecessary changes across the whole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Leads to avoidable conflicts with parallel developments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Breaks “</a:t>
            </a:r>
            <a:r>
              <a:rPr lang="en-US" b="1" dirty="0" err="1" smtClean="0">
                <a:solidFill>
                  <a:srgbClr val="C00000"/>
                </a:solidFill>
              </a:rPr>
              <a:t>git</a:t>
            </a:r>
            <a:r>
              <a:rPr lang="en-US" b="1" dirty="0" smtClean="0">
                <a:solidFill>
                  <a:srgbClr val="C00000"/>
                </a:solidFill>
              </a:rPr>
              <a:t> blame” and makes reviewing a lot harder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Pull requests need to have minimum changes necessary.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Don’t change mod_parameters.f90 or the white space of existing code without a reason.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If you created a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“mess”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during your development, it might be best to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start again with a clean branch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and put only the necessary changes there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 Don’t worry, has happened to me as well ;-)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7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Unreadable or unnecessarily cropped variable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Makes the code hard to read and understand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E.g., </a:t>
            </a:r>
          </a:p>
          <a:p>
            <a:pPr lvl="1"/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eta_spitzer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is far more readable than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eta_spi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and can avoid future confusions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elm is not a good abbreviation for element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 can mean anything including time and temperature (remember Fortran is not case sensitive)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…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To find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good names,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put yourself into the position of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somebody else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stumbling across your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code: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does she/he have a chance to grasp what the variable or subroutine is meant for from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name/comments?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049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Not the right level of </a:t>
            </a:r>
            <a:r>
              <a:rPr lang="en-US" b="1" dirty="0" smtClean="0">
                <a:solidFill>
                  <a:srgbClr val="C00000"/>
                </a:solidFill>
              </a:rPr>
              <a:t>commenting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(none</a:t>
            </a:r>
            <a:r>
              <a:rPr lang="en-US" b="1" dirty="0">
                <a:solidFill>
                  <a:srgbClr val="C00000"/>
                </a:solidFill>
              </a:rPr>
              <a:t>; </a:t>
            </a:r>
            <a:r>
              <a:rPr lang="en-US" b="1" dirty="0" smtClean="0">
                <a:solidFill>
                  <a:srgbClr val="C00000"/>
                </a:solidFill>
              </a:rPr>
              <a:t>incomprehensible; too </a:t>
            </a:r>
            <a:r>
              <a:rPr lang="en-US" b="1" dirty="0">
                <a:solidFill>
                  <a:srgbClr val="C00000"/>
                </a:solidFill>
              </a:rPr>
              <a:t>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0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11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Extracts 1D boundary elements from 2D Bezier elements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!! see https://www.jorek.eu/wiki/...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subroutine xyz(a)</a:t>
            </a:r>
          </a:p>
          <a:p>
            <a:pPr marL="0" indent="0">
              <a:buNone/>
            </a:pPr>
            <a:endParaRPr lang="en-US" sz="1000" b="1" dirty="0" smtClean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--- routine parameters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Integer, intent(in) :: a  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!&lt;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 of …</a:t>
            </a:r>
          </a:p>
          <a:p>
            <a:pPr marL="0" indent="0">
              <a:buNone/>
            </a:pPr>
            <a:endParaRPr lang="en-US" sz="10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--- local parameters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real*8 :: r</a:t>
            </a:r>
          </a:p>
          <a:p>
            <a:pPr marL="0" indent="0">
              <a:buNone/>
            </a:pPr>
            <a:endParaRPr lang="en-US" sz="10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--- First, check which elements are…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1, …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Loop over elements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 do</a:t>
            </a:r>
            <a:r>
              <a:rPr lang="en-US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 subroutine xyz</a:t>
            </a:r>
          </a:p>
        </p:txBody>
      </p:sp>
    </p:spTree>
    <p:extLst>
      <p:ext uri="{BB962C8B-B14F-4D97-AF65-F5344CB8AC3E}">
        <p14:creationId xmlns:p14="http://schemas.microsoft.com/office/powerpoint/2010/main" val="98126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Unnecessary duplication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Leads to future inconsistencies and problems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Generalizing a routine instead of duplicating is often very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useful.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 great example is the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element_matrix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element_matrix_fft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routines, Stan recently combined into one for model303.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 case of doubt, better discuss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early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 There are often elegant an less elegant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solutions and maybe somebody you involve in the discussion has a good idea.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Inconsistent indentation, commenting styles, </a:t>
            </a:r>
            <a:r>
              <a:rPr lang="en-US" b="1" dirty="0" err="1">
                <a:solidFill>
                  <a:srgbClr val="C00000"/>
                </a:solidFill>
              </a:rPr>
              <a:t>etc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Makes it hard to understand the code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For </a:t>
            </a:r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new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routines,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please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follow the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coding guidelines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(in the wiki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In </a:t>
            </a:r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existing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routines,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stay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consistent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with the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“surrounding” code.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Only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use blanks for line indentation,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never tabs</a:t>
            </a:r>
          </a:p>
        </p:txBody>
      </p:sp>
    </p:spTree>
    <p:extLst>
      <p:ext uri="{BB962C8B-B14F-4D97-AF65-F5344CB8AC3E}">
        <p14:creationId xmlns:p14="http://schemas.microsoft.com/office/powerpoint/2010/main" val="192556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No protection from breaking in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Works now, but </a:t>
            </a:r>
            <a:r>
              <a:rPr lang="en-US" b="1" i="1" u="sng" dirty="0" smtClean="0">
                <a:solidFill>
                  <a:srgbClr val="C00000"/>
                </a:solidFill>
              </a:rPr>
              <a:t>will</a:t>
            </a:r>
            <a:r>
              <a:rPr lang="en-US" b="1" dirty="0" smtClean="0">
                <a:solidFill>
                  <a:srgbClr val="C00000"/>
                </a:solidFill>
              </a:rPr>
              <a:t> stop working at some point unless you take </a:t>
            </a:r>
            <a:r>
              <a:rPr lang="en-US" b="1" dirty="0" smtClean="0">
                <a:solidFill>
                  <a:srgbClr val="C00000"/>
                </a:solidFill>
              </a:rPr>
              <a:t>measures</a:t>
            </a:r>
            <a:r>
              <a:rPr lang="en-US" b="1" dirty="0" smtClean="0">
                <a:solidFill>
                  <a:srgbClr val="C00000"/>
                </a:solidFill>
              </a:rPr>
              <a:t>…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When you implement a new feature, setting up a regression test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should always be considered.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Otherwise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your feature can get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broken without noticing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. And experience shows that it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will….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Prepare a case with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minimal resolution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possible (just sufficient to run it, not physically resolve it). If it works, try again with lower resolution.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 can help you set up the regression test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based on the case you have prepared. That requires a simple description of how the case needs to be executed, some setup on the ITER Bamboo servers, and data to compare to (uploaded to jorek.eu).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865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Break the code when resolving conflicts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You might break your own code or someone else’s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While your pull request is open, develop might change since we merge other pull requests.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When merging these changes into your branch,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conflicts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can occur.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Be very careful resolving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those and ask for help if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you need it. This step is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 potential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source for introducing problems. In case of doubt,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contact the author of the conflicting developments to resolve the problems together.</a:t>
            </a:r>
          </a:p>
        </p:txBody>
      </p:sp>
    </p:spTree>
    <p:extLst>
      <p:ext uri="{BB962C8B-B14F-4D97-AF65-F5344CB8AC3E}">
        <p14:creationId xmlns:p14="http://schemas.microsoft.com/office/powerpoint/2010/main" val="155286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Developments never merged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Your code is lost!!!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You should always aim to get your developments into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develop.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Please ask if you don’t know how.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It’s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very sad if you invested a lot of time and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your work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dies silently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 a branch nobody knows about…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Only this way, we can all profit from the developments of the whole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community.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Our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code license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 principle even obliges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you to commit your changes to the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git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repository, by the way. </a:t>
            </a:r>
          </a:p>
        </p:txBody>
      </p:sp>
    </p:spTree>
    <p:extLst>
      <p:ext uri="{BB962C8B-B14F-4D97-AF65-F5344CB8AC3E}">
        <p14:creationId xmlns:p14="http://schemas.microsoft.com/office/powerpoint/2010/main" val="2457601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Unclear whether it is ready to merge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Can delays things, lead to merging to early, or cause unhappiness…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Whether something is ready to merge depends on meeting four main criteria from my point of view: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Correct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and consistent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Useful for at least some users?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Avoids affecting others unnecessarily?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Avoids affecting code structure and readability?</a:t>
            </a:r>
          </a:p>
        </p:txBody>
      </p:sp>
    </p:spTree>
    <p:extLst>
      <p:ext uri="{BB962C8B-B14F-4D97-AF65-F5344CB8AC3E}">
        <p14:creationId xmlns:p14="http://schemas.microsoft.com/office/powerpoint/2010/main" val="150881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smtClean="0">
                <a:solidFill>
                  <a:srgbClr val="C00000"/>
                </a:solidFill>
              </a:rPr>
              <a:t>The “meta-problem”</a:t>
            </a:r>
            <a:r>
              <a:rPr lang="en-US" b="1" dirty="0" smtClean="0">
                <a:solidFill>
                  <a:srgbClr val="C00000"/>
                </a:solidFill>
              </a:rPr>
              <a:t>: Too </a:t>
            </a:r>
            <a:r>
              <a:rPr lang="en-US" b="1" dirty="0">
                <a:solidFill>
                  <a:srgbClr val="C00000"/>
                </a:solidFill>
              </a:rPr>
              <a:t>long life-time of branches and pull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7632"/>
          </a:xfrm>
        </p:spPr>
        <p:txBody>
          <a:bodyPr>
            <a:normAutofit/>
          </a:bodyPr>
          <a:lstStyle/>
          <a:p>
            <a:pPr lvl="1"/>
            <a:r>
              <a:rPr lang="en-US" b="1" dirty="0" smtClean="0">
                <a:solidFill>
                  <a:srgbClr val="C00000"/>
                </a:solidFill>
              </a:rPr>
              <a:t>Caused by a combination of all the things mentioned before…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Leads to conflicts with parallel developments, which need to be resolved. The longer the worse, usually.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New features can’t be used easily before they are merged.</a:t>
            </a:r>
          </a:p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u="sng" dirty="0" smtClean="0">
                <a:solidFill>
                  <a:schemeClr val="accent6">
                    <a:lumMod val="75000"/>
                  </a:schemeClr>
                </a:solidFill>
              </a:rPr>
              <a:t>You are responsible for your pull request!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Discuss early via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jira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. Even before you start to implement.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Produce clean code. Only change what you need to.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Explain concisely what you are doing and convince the reviewers.</a:t>
            </a:r>
          </a:p>
          <a:p>
            <a:pPr lvl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Keep the pull request up to date with changes in develop.</a:t>
            </a:r>
          </a:p>
        </p:txBody>
      </p:sp>
    </p:spTree>
    <p:extLst>
      <p:ext uri="{BB962C8B-B14F-4D97-AF65-F5344CB8AC3E}">
        <p14:creationId xmlns:p14="http://schemas.microsoft.com/office/powerpoint/2010/main" val="604434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together…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</a:rPr>
              <a:t>… we have made </a:t>
            </a:r>
            <a:r>
              <a:rPr lang="en-US" b="1" dirty="0" smtClean="0">
                <a:solidFill>
                  <a:schemeClr val="accent6"/>
                </a:solidFill>
              </a:rPr>
              <a:t>dramatic progress </a:t>
            </a:r>
            <a:r>
              <a:rPr lang="en-US" dirty="0" smtClean="0">
                <a:solidFill>
                  <a:schemeClr val="accent6"/>
                </a:solidFill>
              </a:rPr>
              <a:t>with the development in my eyes.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</a:rPr>
              <a:t>… we can </a:t>
            </a:r>
            <a:r>
              <a:rPr lang="en-US" b="1" dirty="0" smtClean="0">
                <a:solidFill>
                  <a:schemeClr val="accent6"/>
                </a:solidFill>
              </a:rPr>
              <a:t>further reduce </a:t>
            </a:r>
            <a:r>
              <a:rPr lang="en-US" b="1" dirty="0" smtClean="0">
                <a:solidFill>
                  <a:schemeClr val="accent6"/>
                </a:solidFill>
              </a:rPr>
              <a:t>problems and effort</a:t>
            </a:r>
            <a:r>
              <a:rPr lang="en-US" dirty="0" smtClean="0">
                <a:solidFill>
                  <a:schemeClr val="accent6"/>
                </a:solidFill>
              </a:rPr>
              <a:t> for everyone </a:t>
            </a:r>
            <a:r>
              <a:rPr lang="en-US" dirty="0" smtClean="0">
                <a:solidFill>
                  <a:schemeClr val="accent6"/>
                </a:solidFill>
              </a:rPr>
              <a:t>if </a:t>
            </a:r>
            <a:r>
              <a:rPr lang="en-US" dirty="0" smtClean="0">
                <a:solidFill>
                  <a:schemeClr val="accent6"/>
                </a:solidFill>
              </a:rPr>
              <a:t>we follow the suggestions just described (or a refined version of them).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</a:rPr>
              <a:t>… we should never stop improving our workflows – if you have any </a:t>
            </a:r>
            <a:r>
              <a:rPr lang="en-US" b="1" dirty="0" smtClean="0">
                <a:solidFill>
                  <a:schemeClr val="accent6"/>
                </a:solidFill>
              </a:rPr>
              <a:t>suggestions</a:t>
            </a:r>
            <a:r>
              <a:rPr lang="en-US" dirty="0" smtClean="0">
                <a:solidFill>
                  <a:schemeClr val="accent6"/>
                </a:solidFill>
              </a:rPr>
              <a:t>, please bring them up!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If you have so far not touched </a:t>
            </a:r>
            <a:r>
              <a:rPr lang="en-US" i="1" dirty="0" err="1" smtClean="0">
                <a:solidFill>
                  <a:schemeClr val="bg1">
                    <a:lumMod val="50000"/>
                  </a:schemeClr>
                </a:solidFill>
              </a:rPr>
              <a:t>jira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, pull requests, </a:t>
            </a:r>
            <a:r>
              <a:rPr lang="en-US" i="1" dirty="0" err="1" smtClean="0">
                <a:solidFill>
                  <a:schemeClr val="bg1">
                    <a:lumMod val="50000"/>
                  </a:schemeClr>
                </a:solidFill>
              </a:rPr>
              <a:t>etc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, please start doing so. I am 100% sure you have found problems before and fixed them in your local version. Why not for everyone…?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08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does this mean in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 </a:t>
            </a:r>
            <a:r>
              <a:rPr lang="en-US" b="1" dirty="0" smtClean="0"/>
              <a:t>might remind </a:t>
            </a:r>
            <a:r>
              <a:rPr lang="en-US" b="1" dirty="0" smtClean="0"/>
              <a:t>you of the “rules” in the pull requests</a:t>
            </a:r>
          </a:p>
          <a:p>
            <a:r>
              <a:rPr lang="en-US" b="1" dirty="0" smtClean="0"/>
              <a:t>I would regularly ask for the status of a pull request</a:t>
            </a:r>
          </a:p>
          <a:p>
            <a:r>
              <a:rPr lang="en-US" b="1" dirty="0" smtClean="0"/>
              <a:t>I would propose improvements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is not meant as pressuring anyone, it’s an attempt to make everything work smoother and faster.</a:t>
            </a:r>
          </a:p>
          <a:p>
            <a:r>
              <a:rPr lang="en-US" dirty="0" smtClean="0"/>
              <a:t>You should obviously tell me in case you disagree with some of the things I’m </a:t>
            </a:r>
            <a:r>
              <a:rPr lang="en-US" dirty="0" smtClean="0"/>
              <a:t>raising in a pull request. We can then discuss </a:t>
            </a:r>
            <a:r>
              <a:rPr lang="en-US" dirty="0" smtClean="0"/>
              <a:t>and possibly ask for more opinions to find a common </a:t>
            </a:r>
            <a:r>
              <a:rPr lang="en-US" dirty="0" smtClean="0"/>
              <a:t>approach.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751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opinion on this?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Do you largely agree or do you rather disagree?</a:t>
            </a:r>
          </a:p>
          <a:p>
            <a:pPr marL="0" indent="0">
              <a:buNone/>
            </a:pPr>
            <a:endParaRPr lang="en-US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Do you have concrete proposals for improving?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27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12814</TotalTime>
  <Words>1913</Words>
  <Application>Microsoft Office PowerPoint</Application>
  <PresentationFormat>Widescreen</PresentationFormat>
  <Paragraphs>176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Office Theme</vt:lpstr>
      <vt:lpstr>Foreword / Disclaimer</vt:lpstr>
      <vt:lpstr>Development coordination</vt:lpstr>
      <vt:lpstr>Why is this so important?</vt:lpstr>
      <vt:lpstr>Main measures</vt:lpstr>
      <vt:lpstr>Where are we standing and where to go?</vt:lpstr>
      <vt:lpstr>Insufficient description about what a pull request is supposed to do</vt:lpstr>
      <vt:lpstr>Various issues combined in one pull request</vt:lpstr>
      <vt:lpstr>Looks good, but does not work</vt:lpstr>
      <vt:lpstr>Assuming the other person is now in charge</vt:lpstr>
      <vt:lpstr>Scattered discussions</vt:lpstr>
      <vt:lpstr>Forgetting about already found issues in a pull request (or in general)</vt:lpstr>
      <vt:lpstr>Unnecessary changes across the whole code</vt:lpstr>
      <vt:lpstr>Unreadable or unnecessarily cropped variable names</vt:lpstr>
      <vt:lpstr>Not the right level of commenting (none; incomprehensible; too detailed)</vt:lpstr>
      <vt:lpstr>Unnecessary duplication of code</vt:lpstr>
      <vt:lpstr>Inconsistent indentation, commenting styles, etc</vt:lpstr>
      <vt:lpstr>No protection from breaking in the future</vt:lpstr>
      <vt:lpstr>Break the code when resolving conflicts</vt:lpstr>
      <vt:lpstr>Developments never merged</vt:lpstr>
      <vt:lpstr>Unclear whether it is ready to merge</vt:lpstr>
      <vt:lpstr>The “meta-problem”: Too long life-time of branches and pull requests</vt:lpstr>
      <vt:lpstr>All together…</vt:lpstr>
      <vt:lpstr>What does this mean in practice</vt:lpstr>
      <vt:lpstr>Your opinion on this?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coordination</dc:title>
  <dc:creator>Matthias Hoelzl</dc:creator>
  <cp:lastModifiedBy>Matthias Hoelzl</cp:lastModifiedBy>
  <cp:revision>40</cp:revision>
  <dcterms:created xsi:type="dcterms:W3CDTF">2020-02-24T07:04:41Z</dcterms:created>
  <dcterms:modified xsi:type="dcterms:W3CDTF">2020-04-06T05:53:06Z</dcterms:modified>
</cp:coreProperties>
</file>